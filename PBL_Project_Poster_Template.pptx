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7E0"/>
    <a:srgbClr val="F7AFD3"/>
    <a:srgbClr val="F17AB5"/>
    <a:srgbClr val="ACC8EA"/>
    <a:srgbClr val="FFE89F"/>
    <a:srgbClr val="FFE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6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79" cy="192024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"/>
            <a:ext cx="8503920" cy="1645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Vehicle Service Booking &amp; Tracking System</a:t>
            </a:r>
          </a:p>
          <a:p>
            <a:pPr>
              <a:defRPr sz="1150" b="1">
                <a:solidFill>
                  <a:srgbClr val="FEF08A"/>
                </a:solidFill>
              </a:defRPr>
            </a:pPr>
            <a:r>
              <a:t>Team ID: 18  |  Section: S__  |  Members: G Jashwanth Reddy (2520030426), Mohammad Zaid Amaan (2520030382)  |  Guide: Dr. ______</a:t>
            </a:r>
          </a:p>
          <a:p>
            <a:pPr>
              <a:defRPr sz="1050">
                <a:solidFill>
                  <a:srgbClr val="E0E7FF"/>
                </a:solidFill>
              </a:defRPr>
            </a:pPr>
            <a:r>
              <a:t>Database Systems Engineering and Distributed Backend Development (25CS1302E)  |  KLH Bachupally Campus, CSE  |  PBL 2026-27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03120"/>
            <a:ext cx="4846320" cy="1645920"/>
          </a:xfrm>
          <a:prstGeom prst="roundRect">
            <a:avLst/>
          </a:prstGeom>
          <a:solidFill>
            <a:srgbClr val="FFE89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76272"/>
            <a:ext cx="457200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600" dirty="0"/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457200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rPr sz="1400" dirty="0"/>
              <a:t>A full-stack vehicle maintenance and service tracking platform for automotive service centers, built with React.js, Express.js, and MySQL 8.</a:t>
            </a:r>
          </a:p>
          <a:p>
            <a:pPr>
              <a:defRPr sz="1019">
                <a:solidFill>
                  <a:srgbClr val="1E293B"/>
                </a:solidFill>
              </a:defRPr>
            </a:pPr>
            <a:r>
              <a:rPr sz="1200" dirty="0"/>
              <a:t>Centralizes customer onboarding, vehicle management, service bookings, and booking status tracking using a structured relational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4846320" cy="2286000"/>
          </a:xfrm>
          <a:prstGeom prst="roundRect">
            <a:avLst/>
          </a:prstGeom>
          <a:solidFill>
            <a:srgbClr val="F9C7E0"/>
          </a:solidFill>
          <a:ln w="228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959352"/>
            <a:ext cx="457200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EC4899"/>
                </a:solidFill>
              </a:defRPr>
            </a:pPr>
            <a:r>
              <a:rPr sz="1600" dirty="0"/>
              <a:t>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25112"/>
            <a:ext cx="4572000" cy="1723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EF4444"/>
                </a:solidFill>
              </a:defRPr>
            </a:pPr>
            <a:r>
              <a:rPr sz="1200" dirty="0"/>
              <a:t>Problem: Service centers struggle with paper registers, missing records, scheduling conflicts, and data inconsistencies.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rPr sz="1100" dirty="0"/>
              <a:t>• Objective 1: Design a normalized MySQL 8 schema with 3 relational tables (customers, vehicles, </a:t>
            </a:r>
            <a:r>
              <a:rPr sz="1100" dirty="0" err="1"/>
              <a:t>service_bookings</a:t>
            </a:r>
            <a:r>
              <a:rPr sz="1100" dirty="0"/>
              <a:t>).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rPr sz="1100" dirty="0"/>
              <a:t>• Objective 2: Develop REST APIs in Express.js with input validation and mysql2 connection pool.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rPr sz="1100" dirty="0"/>
              <a:t>• Objective 3: Build an interactive React.js dashboard for booking services and tracking status updates.</a:t>
            </a:r>
          </a:p>
          <a:p>
            <a:pPr>
              <a:defRPr sz="980">
                <a:solidFill>
                  <a:srgbClr val="1E293B"/>
                </a:solidFill>
              </a:defRPr>
            </a:pPr>
            <a:r>
              <a:rPr sz="1100" dirty="0"/>
              <a:t>• Scope: Customer registration, vehicle fleet management, package booking, and admin status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309360"/>
            <a:ext cx="4846320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25699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3B82F6"/>
                </a:solidFill>
              </a:defRPr>
            </a:pPr>
            <a:r>
              <a:rPr sz="1600" dirty="0"/>
              <a:t>Existing vs Proposed System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43105"/>
              </p:ext>
            </p:extLst>
          </p:nvPr>
        </p:nvGraphicFramePr>
        <p:xfrm>
          <a:off x="502920" y="6655308"/>
          <a:ext cx="4572000" cy="2625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43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3B82F6"/>
                          </a:solidFill>
                        </a:defRPr>
                      </a:pPr>
                      <a:r>
                        <a:rPr sz="1050"/>
                        <a:t>Feature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3B82F6"/>
                          </a:solidFill>
                        </a:defRPr>
                      </a:pPr>
                      <a:r>
                        <a:rPr sz="1050"/>
                        <a:t>Existing System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3B82F6"/>
                          </a:solidFill>
                        </a:defRPr>
                      </a:pPr>
                      <a:r>
                        <a:rPr sz="1050"/>
                        <a:t>Proposed System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4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Manual paper registers &amp; physical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Centralized MySQL database with validated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Vehicle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Paper cards; difficult history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Relational mapping (customers 1:N vehicles)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4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Service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Phone calls; scheduling 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Online form with package &amp; slot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4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Status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No visibility for customers or 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Booking status tracking (PENDING → COMPLETED)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04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Data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/>
                        <a:t>Redundant paper logs; dummy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rPr sz="1050" dirty="0"/>
                        <a:t>MySQL 8 relational schema with unique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9464040"/>
            <a:ext cx="4846320" cy="215222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9537192"/>
            <a:ext cx="457200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rPr sz="1600" dirty="0"/>
              <a:t>Feasibility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9902952"/>
            <a:ext cx="4572000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E293B"/>
                </a:solidFill>
              </a:defRPr>
            </a:pPr>
            <a:r>
              <a:rPr sz="1200" dirty="0"/>
              <a:t>• Technical: Built on Node.js 18+, Express.js, React.js, and MySQL 8 with connection pooling.</a:t>
            </a:r>
          </a:p>
          <a:p>
            <a:pPr>
              <a:defRPr sz="1019">
                <a:solidFill>
                  <a:srgbClr val="1E293B"/>
                </a:solidFill>
              </a:defRPr>
            </a:pPr>
            <a:r>
              <a:rPr sz="1200" dirty="0"/>
              <a:t>• Economic: 100% open-source tech stack deployable on local development tools.</a:t>
            </a:r>
          </a:p>
          <a:p>
            <a:pPr>
              <a:defRPr sz="1019">
                <a:solidFill>
                  <a:srgbClr val="1E293B"/>
                </a:solidFill>
              </a:defRPr>
            </a:pPr>
            <a:r>
              <a:rPr sz="1200" dirty="0"/>
              <a:t>• Operational: Clean, role-based UI (Customer/Staff) requiring zero user training.</a:t>
            </a:r>
          </a:p>
          <a:p>
            <a:pPr>
              <a:defRPr sz="1019">
                <a:solidFill>
                  <a:srgbClr val="1E293B"/>
                </a:solidFill>
              </a:defRPr>
            </a:pPr>
            <a:r>
              <a:rPr sz="1200" dirty="0"/>
              <a:t>• Schedule: Completed within semester timeline across schema, REST API, UI, and testing phases.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103120"/>
            <a:ext cx="4846320" cy="16642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28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23560" y="2176272"/>
            <a:ext cx="457200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rPr sz="1600" dirty="0">
                <a:solidFill>
                  <a:srgbClr val="0070C0"/>
                </a:solidFill>
              </a:rPr>
              <a:t>Tools &amp;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542032"/>
            <a:ext cx="45720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rPr sz="1400" dirty="0"/>
              <a:t>• Front-End: React.js, Vite, HTML5, CSS3, </a:t>
            </a:r>
            <a:r>
              <a:rPr sz="1400" dirty="0" err="1"/>
              <a:t>Lucide</a:t>
            </a:r>
            <a:r>
              <a:rPr sz="1400" dirty="0"/>
              <a:t> React Icons</a:t>
            </a:r>
          </a:p>
          <a:p>
            <a:pPr>
              <a:defRPr sz="1050" b="1">
                <a:solidFill>
                  <a:srgbClr val="1E293B"/>
                </a:solidFill>
              </a:defRPr>
            </a:pPr>
            <a:r>
              <a:rPr sz="1400" dirty="0"/>
              <a:t>• Back-End: Node.js, Express.js, RESTful APIs</a:t>
            </a:r>
          </a:p>
          <a:p>
            <a:pPr>
              <a:defRPr sz="1050" b="1">
                <a:solidFill>
                  <a:srgbClr val="1E293B"/>
                </a:solidFill>
              </a:defRPr>
            </a:pPr>
            <a:r>
              <a:rPr sz="1400" dirty="0"/>
              <a:t>• Database: MySQL 8 (3 relational tables, indexed FKs)</a:t>
            </a:r>
          </a:p>
          <a:p>
            <a:pPr>
              <a:defRPr sz="1050" b="1">
                <a:solidFill>
                  <a:srgbClr val="1E293B"/>
                </a:solidFill>
              </a:defRPr>
            </a:pPr>
            <a:r>
              <a:rPr sz="1400" dirty="0"/>
              <a:t>• Tools &amp; Security: Git, GitHub, Postman, VS Code, mysql2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886200"/>
            <a:ext cx="4846320" cy="3383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50992" y="4069080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rPr dirty="0"/>
              <a:t>System Architecture (Three-Tier Tree View)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7406640"/>
            <a:ext cx="48463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7479792"/>
            <a:ext cx="38069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600" dirty="0"/>
              <a:t>ER Diagram &amp; Relational Database Schema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7818120"/>
            <a:ext cx="1444752" cy="153619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tlCol="0" anchor="ctr"/>
          <a:lstStyle/>
          <a:p>
            <a:pPr algn="ctr">
              <a:defRPr sz="1050" b="1">
                <a:solidFill>
                  <a:srgbClr val="1D4ED8"/>
                </a:solidFill>
              </a:defRPr>
            </a:pPr>
            <a:r>
              <a:rPr sz="1100" dirty="0"/>
              <a:t>CUSTOMERS (1)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🔑 id (PK)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👤 name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📧 email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📞 phone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🏠 address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📅 </a:t>
            </a:r>
            <a:r>
              <a:rPr sz="1000" dirty="0" err="1"/>
              <a:t>created_at</a:t>
            </a:r>
            <a:endParaRPr sz="1000" dirty="0"/>
          </a:p>
        </p:txBody>
      </p:sp>
      <p:sp>
        <p:nvSpPr>
          <p:cNvPr id="29" name="Rounded Rectangle 28"/>
          <p:cNvSpPr/>
          <p:nvPr/>
        </p:nvSpPr>
        <p:spPr>
          <a:xfrm>
            <a:off x="7187184" y="7818120"/>
            <a:ext cx="1444752" cy="1536192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tlCol="0" anchor="ctr"/>
          <a:lstStyle/>
          <a:p>
            <a:pPr algn="ctr">
              <a:defRPr sz="1050" b="1">
                <a:solidFill>
                  <a:srgbClr val="6D28D9"/>
                </a:solidFill>
              </a:defRPr>
            </a:pPr>
            <a:r>
              <a:rPr sz="1100" dirty="0"/>
              <a:t>VEHICLES (N)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🔑 id (PK)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🔗 </a:t>
            </a:r>
            <a:r>
              <a:rPr sz="1000" dirty="0" err="1"/>
              <a:t>customer_id</a:t>
            </a:r>
            <a:r>
              <a:rPr sz="1000" dirty="0"/>
              <a:t> (FK)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🚗 </a:t>
            </a:r>
            <a:r>
              <a:rPr sz="1000" dirty="0" err="1"/>
              <a:t>vehicle_number</a:t>
            </a:r>
            <a:endParaRPr sz="1000" dirty="0"/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🏷️ brand / model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⛽ </a:t>
            </a:r>
            <a:r>
              <a:rPr sz="1000" dirty="0" err="1"/>
              <a:t>fuel_type</a:t>
            </a:r>
            <a:endParaRPr sz="1000" dirty="0"/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📅 </a:t>
            </a:r>
            <a:r>
              <a:rPr sz="1000" dirty="0" err="1"/>
              <a:t>mfg_year</a:t>
            </a:r>
            <a:endParaRPr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8750808" y="7818120"/>
            <a:ext cx="1444752" cy="1536192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tlCol="0" anchor="ctr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rPr sz="1050" dirty="0"/>
              <a:t>SERVICE_BOOKINGS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🔑 id (PK)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🔗 </a:t>
            </a:r>
            <a:r>
              <a:rPr sz="1000" dirty="0" err="1"/>
              <a:t>customer_id</a:t>
            </a:r>
            <a:r>
              <a:rPr sz="1000" dirty="0"/>
              <a:t> (FK)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00" dirty="0"/>
              <a:t>🔗 </a:t>
            </a:r>
            <a:r>
              <a:rPr sz="1000" dirty="0" err="1"/>
              <a:t>vehicle_id</a:t>
            </a:r>
            <a:r>
              <a:rPr sz="1000" dirty="0"/>
              <a:t> (FK)</a:t>
            </a:r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🛠️ </a:t>
            </a:r>
            <a:r>
              <a:rPr sz="1000" dirty="0" err="1"/>
              <a:t>service_type</a:t>
            </a:r>
            <a:endParaRPr sz="1000" dirty="0"/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📅 </a:t>
            </a:r>
            <a:r>
              <a:rPr sz="1000" dirty="0" err="1"/>
              <a:t>booking_date</a:t>
            </a:r>
            <a:endParaRPr sz="1000" dirty="0"/>
          </a:p>
          <a:p>
            <a:pPr>
              <a:defRPr sz="900" b="0">
                <a:solidFill>
                  <a:srgbClr val="1E293B"/>
                </a:solidFill>
              </a:defRPr>
            </a:pPr>
            <a:r>
              <a:rPr sz="1000" dirty="0"/>
              <a:t>⚡ status /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9390888"/>
            <a:ext cx="4572000" cy="457200"/>
          </a:xfrm>
          <a:prstGeom prst="roundRect">
            <a:avLst/>
          </a:prstGeom>
          <a:solidFill>
            <a:srgbClr val="FEFCE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tlCol="0" anchor="ctr"/>
          <a:lstStyle/>
          <a:p>
            <a:pPr algn="ctr">
              <a:defRPr sz="950" b="1">
                <a:solidFill>
                  <a:srgbClr val="B45309"/>
                </a:solidFill>
              </a:defRPr>
            </a:pPr>
            <a:r>
              <a:rPr sz="1050" dirty="0"/>
              <a:t>RELATIONSHIPS &amp; CARDINALITY:</a:t>
            </a:r>
          </a:p>
          <a:p>
            <a:pPr>
              <a:defRPr sz="900" b="1">
                <a:solidFill>
                  <a:srgbClr val="1E293B"/>
                </a:solidFill>
              </a:defRPr>
            </a:pPr>
            <a:r>
              <a:rPr sz="1050" dirty="0"/>
              <a:t>customers (1) ─── (N) vehicles   |   customers (1) ─── (N) </a:t>
            </a:r>
            <a:r>
              <a:rPr sz="1050" dirty="0" err="1"/>
              <a:t>service_bookings</a:t>
            </a:r>
            <a:r>
              <a:rPr sz="1050" dirty="0"/>
              <a:t> (N) ─── (1) vehicles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10058400"/>
            <a:ext cx="48463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3560" y="10131552"/>
            <a:ext cx="26291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4B8A6"/>
                </a:solidFill>
              </a:defRPr>
            </a:pPr>
            <a:r>
              <a:rPr sz="1600" dirty="0"/>
              <a:t>Implementation Screenshots</a:t>
            </a:r>
          </a:p>
        </p:txBody>
      </p:sp>
      <p:pic>
        <p:nvPicPr>
          <p:cNvPr id="34" name="Picture 33" descr="media_1789624363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497312"/>
            <a:ext cx="2212848" cy="1810512"/>
          </a:xfrm>
          <a:prstGeom prst="rect">
            <a:avLst/>
          </a:prstGeom>
        </p:spPr>
      </p:pic>
      <p:pic>
        <p:nvPicPr>
          <p:cNvPr id="35" name="Picture 34" descr="media_1789624356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497312"/>
            <a:ext cx="2212848" cy="181051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365760" y="12573000"/>
            <a:ext cx="3136392" cy="1645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12646152"/>
            <a:ext cx="2862072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EF4444"/>
                </a:solidFill>
              </a:defRPr>
            </a:pPr>
            <a:r>
              <a:rPr sz="1600" dirty="0"/>
              <a:t>Results &amp;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13011912"/>
            <a:ext cx="2862072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60">
                <a:solidFill>
                  <a:srgbClr val="1E293B"/>
                </a:solidFill>
              </a:defRPr>
            </a:pPr>
            <a:r>
              <a:rPr sz="1200" dirty="0"/>
              <a:t>• Complete CRUD verified across all 3 relational database tables.</a:t>
            </a:r>
          </a:p>
          <a:p>
            <a:pPr>
              <a:defRPr sz="960">
                <a:solidFill>
                  <a:srgbClr val="1E293B"/>
                </a:solidFill>
              </a:defRPr>
            </a:pPr>
            <a:r>
              <a:rPr sz="1200" dirty="0"/>
              <a:t>• Input validation and database constraints were verified during testing.</a:t>
            </a:r>
          </a:p>
          <a:p>
            <a:pPr>
              <a:defRPr sz="960">
                <a:solidFill>
                  <a:srgbClr val="1E293B"/>
                </a:solidFill>
              </a:defRPr>
            </a:pPr>
            <a:r>
              <a:rPr sz="1200" dirty="0"/>
              <a:t>• Verified React ➔ Express ➔ MySQL data flow with mysql2 connection pool.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76472" y="12573000"/>
            <a:ext cx="3136392" cy="1645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13632" y="12646152"/>
            <a:ext cx="2862072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rPr sz="1600" dirty="0"/>
              <a:t>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632" y="13011912"/>
            <a:ext cx="286207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0B981"/>
                </a:solidFill>
              </a:defRPr>
            </a:pPr>
            <a:r>
              <a:rPr sz="1200" dirty="0"/>
              <a:t>• Engineered a centralized vehicle service booking system.</a:t>
            </a:r>
          </a:p>
          <a:p>
            <a:pPr>
              <a:defRPr sz="1019" b="1">
                <a:solidFill>
                  <a:srgbClr val="10B981"/>
                </a:solidFill>
              </a:defRPr>
            </a:pPr>
            <a:r>
              <a:rPr sz="1200" dirty="0"/>
              <a:t>• Met all course objectives with relational integrity &amp; modern UI.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87184" y="12573000"/>
            <a:ext cx="3136392" cy="1645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24344" y="12646152"/>
            <a:ext cx="2862072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50" b="1">
                <a:solidFill>
                  <a:srgbClr val="8B5CF6"/>
                </a:solidFill>
              </a:defRPr>
            </a:pPr>
            <a:r>
              <a:rPr sz="1600" dirty="0"/>
              <a:t>Future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4344" y="13011912"/>
            <a:ext cx="286207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• AI-driven service recommendations based on vehicle history.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• Automated WhatsApp / SMS notifications for completed servicing.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14337792"/>
            <a:ext cx="7671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References: [1] Silberschatz et al., Database System Concepts, 7th ed.   [2] Express.js &amp; React Docs   [3] MySQL 8 Reference Manual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0616" y="1424635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GitHub:</a:t>
            </a:r>
            <a:br/>
            <a:r>
              <a:t>Vehicle-Service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4928" y="4416552"/>
            <a:ext cx="914400" cy="201168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👤 USER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90688" y="4663440"/>
            <a:ext cx="182880" cy="1097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rPr dirty="0"/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96128" y="4856141"/>
            <a:ext cx="4626864" cy="219456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rPr dirty="0"/>
              <a:t>PRESENTATION LAYER (React.js Frontend)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96128" y="5158570"/>
            <a:ext cx="1115568" cy="219456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1E40AF"/>
                </a:solidFill>
                <a:latin typeface="Arial"/>
              </a:defRPr>
            </a:pPr>
            <a:r>
              <a:rPr dirty="0"/>
              <a:t>Customer </a:t>
            </a:r>
            <a:r>
              <a:rPr dirty="0" err="1"/>
              <a:t>Mgmt</a:t>
            </a:r>
            <a:endParaRPr dirty="0"/>
          </a:p>
        </p:txBody>
      </p:sp>
      <p:sp>
        <p:nvSpPr>
          <p:cNvPr id="51" name="Rounded Rectangle 50"/>
          <p:cNvSpPr/>
          <p:nvPr/>
        </p:nvSpPr>
        <p:spPr>
          <a:xfrm>
            <a:off x="6766560" y="5166360"/>
            <a:ext cx="1115568" cy="219456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1E40AF"/>
                </a:solidFill>
                <a:latin typeface="Arial"/>
              </a:defRPr>
            </a:pPr>
            <a:r>
              <a:t>Vehicle Mgmt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36992" y="5174827"/>
            <a:ext cx="1115568" cy="219456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1E40AF"/>
                </a:solidFill>
                <a:latin typeface="Arial"/>
              </a:defRPr>
            </a:pPr>
            <a:r>
              <a:t>Service Booking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80" y="5158570"/>
            <a:ext cx="1115568" cy="219456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1E40AF"/>
                </a:solidFill>
                <a:latin typeface="Arial"/>
              </a:defRPr>
            </a:pPr>
            <a:r>
              <a:t>Status Tracking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84848" y="5481828"/>
            <a:ext cx="2194560" cy="182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334155"/>
                </a:solidFill>
                <a:latin typeface="Arial"/>
              </a:defRPr>
            </a:pPr>
            <a:r>
              <a:rPr dirty="0"/>
              <a:t>⬇   HTTP / REST API (JSON)   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23560" y="5741755"/>
            <a:ext cx="4626864" cy="219456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1100" b="1">
                <a:solidFill>
                  <a:srgbClr val="064E3B"/>
                </a:solidFill>
                <a:latin typeface="Arial"/>
              </a:defRPr>
            </a:pPr>
            <a:r>
              <a:t>APPLICATION LAYER (Node.js + Express.js)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96128" y="6029282"/>
            <a:ext cx="1115568" cy="219456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rPr dirty="0"/>
              <a:t>Customer API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0" y="6020647"/>
            <a:ext cx="1115568" cy="219456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rPr dirty="0"/>
              <a:t>Vehicle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36992" y="6020647"/>
            <a:ext cx="1115568" cy="219456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t>Booking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07424" y="6029282"/>
            <a:ext cx="1115568" cy="219456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065F46"/>
                </a:solidFill>
                <a:latin typeface="Arial"/>
              </a:defRPr>
            </a:pPr>
            <a:r>
              <a:rPr dirty="0"/>
              <a:t>Input Validation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6327648"/>
            <a:ext cx="2194560" cy="182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92400E"/>
                </a:solidFill>
                <a:latin typeface="Arial"/>
              </a:defRPr>
            </a:pPr>
            <a:r>
              <a:rPr dirty="0"/>
              <a:t>⬇   mysql2 Connection Pool   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96128" y="6526276"/>
            <a:ext cx="4626864" cy="219456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1100" b="1">
                <a:solidFill>
                  <a:srgbClr val="78350F"/>
                </a:solidFill>
                <a:latin typeface="Arial"/>
              </a:defRPr>
            </a:pPr>
            <a:r>
              <a:rPr dirty="0"/>
              <a:t>DATABASE LAYER (MySQL 8 - </a:t>
            </a:r>
            <a:r>
              <a:rPr dirty="0" err="1"/>
              <a:t>vehicle_service_db</a:t>
            </a:r>
            <a:r>
              <a:rPr dirty="0"/>
              <a:t>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13739" y="6798564"/>
            <a:ext cx="1499616" cy="292608"/>
          </a:xfrm>
          <a:prstGeom prst="roundRect">
            <a:avLst/>
          </a:prstGeom>
          <a:solidFill>
            <a:srgbClr val="FDE6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92400E"/>
                </a:solidFill>
                <a:latin typeface="Arial"/>
              </a:defRPr>
            </a:pPr>
            <a:r>
              <a:t>customers</a:t>
            </a:r>
            <a:br/>
            <a:r>
              <a:t>(PK: id)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68557" y="6798903"/>
            <a:ext cx="1499616" cy="292608"/>
          </a:xfrm>
          <a:prstGeom prst="roundRect">
            <a:avLst/>
          </a:prstGeom>
          <a:solidFill>
            <a:srgbClr val="FDE6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92400E"/>
                </a:solidFill>
                <a:latin typeface="Arial"/>
              </a:defRPr>
            </a:pPr>
            <a:r>
              <a:t>vehicles</a:t>
            </a:r>
            <a:br/>
            <a:r>
              <a:t>(FK: customer_id)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23376" y="6788234"/>
            <a:ext cx="1499616" cy="292608"/>
          </a:xfrm>
          <a:prstGeom prst="roundRect">
            <a:avLst/>
          </a:prstGeom>
          <a:solidFill>
            <a:srgbClr val="FDE6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950" b="1">
                <a:solidFill>
                  <a:srgbClr val="92400E"/>
                </a:solidFill>
                <a:latin typeface="Arial"/>
              </a:defRPr>
            </a:pPr>
            <a:r>
              <a:rPr dirty="0" err="1"/>
              <a:t>service_bookings</a:t>
            </a:r>
            <a:br>
              <a:rPr dirty="0"/>
            </a:br>
            <a:r>
              <a:rPr dirty="0"/>
              <a:t>(FKs: customer, vehicle)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770</Words>
  <Application>Microsoft Office PowerPoint</Application>
  <PresentationFormat>Custom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Gangidi Jashwanth Reddy</cp:lastModifiedBy>
  <cp:revision>2</cp:revision>
  <dcterms:created xsi:type="dcterms:W3CDTF">2013-01-27T09:14:16Z</dcterms:created>
  <dcterms:modified xsi:type="dcterms:W3CDTF">2026-10-02T16:52:51Z</dcterms:modified>
  <cp:category/>
</cp:coreProperties>
</file>